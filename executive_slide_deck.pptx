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Libre Baskerville"/>
      <p:regular r:id="rId201314"/>
    </p:embeddedFont>
    <p:embeddedFont>
      <p:font typeface="Libre Baskerville Bold"/>
      <p:regular r:id="rId201315"/>
    </p:embeddedFont>
    <p:embeddedFont>
      <p:font typeface="Open Sans Light"/>
      <p:regular r:id="rId201316"/>
    </p:embeddedFont>
    <p:embeddedFont>
      <p:font typeface="Open Sans Bold"/>
      <p:regular r:id="rId201317"/>
    </p:embeddedFont>
    <p:embeddedFont>
      <p:font typeface="Open Sans"/>
      <p:regular r:id="rId201318"/>
    </p:embeddedFont>
    <p:embeddedFont>
      <p:font typeface="Open Sans Medium"/>
      <p:regular r:id="rId201319"/>
    </p:embeddedFont>
    <p:embeddedFont>
      <p:font typeface="Open Sans SemiBold"/>
      <p:regular r:id="rId201320"/>
    </p:embeddedFont>
    <p:embeddedFont>
      <p:font typeface="Open Sans ExtraBold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74155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Online Retail Sales &amp; Customer Insights Dashboard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311571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Transforming raw transactional data into actionable business intelligence — revenue, customers, products, and geography.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182" y="526852"/>
            <a:ext cx="887164" cy="177850"/>
          </a:xfrm>
          <a:prstGeom prst="roundRect">
            <a:avLst>
              <a:gd name="adj" fmla="val 7025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1042615" y="558031"/>
            <a:ext cx="1219498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OVERVIEW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80182" y="819373"/>
            <a:ext cx="5720804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From Raw Data to Business Intelligence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182" y="1345332"/>
            <a:ext cx="4580409" cy="25955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19254" y="2426419"/>
            <a:ext cx="2349178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Online retail generates massive transactional data daily — but extracting </a:t>
            </a:r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actionable insights</a:t>
            </a:r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remains a challenge.</a:t>
            </a:r>
            <a:endParaRPr lang="en-US" sz="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895" y="4112791"/>
            <a:ext cx="2357810" cy="58973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1437" y="4231184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41437" y="4439692"/>
            <a:ext cx="2063874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cleaning &amp; feature engineering</a:t>
            </a:r>
            <a:endParaRPr lang="en-US" sz="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85840" y="4112791"/>
            <a:ext cx="2357884" cy="58973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561383" y="4231184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SQL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3561383" y="4439692"/>
            <a:ext cx="206394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Analytical querying</a:t>
            </a:r>
            <a:endParaRPr lang="en-US" sz="8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05860" y="4112791"/>
            <a:ext cx="2357884" cy="58973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981402" y="4231184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Tableau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5981402" y="4439692"/>
            <a:ext cx="206394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dashboards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98599"/>
            <a:ext cx="645691" cy="266402"/>
          </a:xfrm>
          <a:prstGeom prst="roundRect">
            <a:avLst>
              <a:gd name="adj" fmla="val 638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403ccf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81174" y="741090"/>
            <a:ext cx="93278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DATASET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177603"/>
            <a:ext cx="452564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What's Inside the Data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833190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Transactions from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2010–2011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across 8 columns — Invoice, StockCode, Description, Quantity, InvoiceDate, Price, Customer_ID, and Country — plus engineered fields: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Revenue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OrderType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IsCancellation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2517130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5,742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1603697" y="316207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Customers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553" y="2517130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36,225</a:t>
            </a:r>
            <a:endParaRPr lang="en-US" sz="3650" dirty="0"/>
          </a:p>
        </p:txBody>
      </p:sp>
      <p:sp>
        <p:nvSpPr>
          <p:cNvPr id="9" name="Text 7"/>
          <p:cNvSpPr/>
          <p:nvPr/>
        </p:nvSpPr>
        <p:spPr>
          <a:xfrm>
            <a:off x="5768206" y="316207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Orders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6119" y="3737893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$16.2M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1603697" y="438283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Revenue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60553" y="3737893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$447</a:t>
            </a:r>
            <a:endParaRPr lang="en-US" sz="3650" dirty="0"/>
          </a:p>
        </p:txBody>
      </p:sp>
      <p:sp>
        <p:nvSpPr>
          <p:cNvPr id="13" name="Text 11"/>
          <p:cNvSpPr/>
          <p:nvPr/>
        </p:nvSpPr>
        <p:spPr>
          <a:xfrm>
            <a:off x="5768206" y="438283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 Order Value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48580"/>
            <a:ext cx="1083766" cy="255240"/>
          </a:xfrm>
          <a:prstGeom prst="roundRect">
            <a:avLst>
              <a:gd name="adj" fmla="val 6457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578495" y="589731"/>
            <a:ext cx="1376214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TRENDS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03325"/>
            <a:ext cx="8321278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Monthly Revenue: Seasonal Patterns Emerge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81621"/>
            <a:ext cx="3908375" cy="2813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4269" y="1764953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Observations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4269" y="2112466"/>
            <a:ext cx="3908375" cy="741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August peak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$939K, highest month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December dip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$332K, lowest month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Q3 (Aug–Oct) drives </a:t>
            </a:r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strongest revenue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30064"/>
            <a:ext cx="737592" cy="223317"/>
          </a:xfrm>
          <a:prstGeom prst="roundRect">
            <a:avLst>
              <a:gd name="adj" fmla="val 6666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667271"/>
            <a:ext cx="1045964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GEOGRAPHY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016124"/>
            <a:ext cx="859043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UK Dominates — International Opportunity Awaits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88455"/>
            <a:ext cx="3924598" cy="28249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28046" y="1674912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Market Split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28046" y="1990799"/>
            <a:ext cx="1908051" cy="922362"/>
          </a:xfrm>
          <a:prstGeom prst="roundRect">
            <a:avLst>
              <a:gd name="adj" fmla="val 2017"/>
            </a:avLst>
          </a:prstGeom>
          <a:solidFill>
            <a:srgbClr val="EAE8F3"/>
          </a:solidFill>
          <a:ln/>
        </p:spPr>
      </p:sp>
      <p:sp>
        <p:nvSpPr>
          <p:cNvPr id="8" name="Text 5"/>
          <p:cNvSpPr/>
          <p:nvPr/>
        </p:nvSpPr>
        <p:spPr>
          <a:xfrm>
            <a:off x="4852020" y="2114773"/>
            <a:ext cx="156701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🇬🇧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United Kingdom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52020" y="2417118"/>
            <a:ext cx="166010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$14.7M —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85.3%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total revenue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744593" y="1990799"/>
            <a:ext cx="1908051" cy="922362"/>
          </a:xfrm>
          <a:prstGeom prst="roundRect">
            <a:avLst>
              <a:gd name="adj" fmla="val 2017"/>
            </a:avLst>
          </a:prstGeom>
          <a:solidFill>
            <a:srgbClr val="EAE8F3"/>
          </a:solidFill>
          <a:ln/>
        </p:spPr>
      </p:sp>
      <p:sp>
        <p:nvSpPr>
          <p:cNvPr id="11" name="Text 8"/>
          <p:cNvSpPr/>
          <p:nvPr/>
        </p:nvSpPr>
        <p:spPr>
          <a:xfrm>
            <a:off x="6868567" y="211477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🌍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International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68567" y="2417118"/>
            <a:ext cx="166010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$2.4M —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14.7%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across 10+ countries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28046" y="3035201"/>
            <a:ext cx="3924598" cy="629245"/>
          </a:xfrm>
          <a:prstGeom prst="roundRect">
            <a:avLst>
              <a:gd name="adj" fmla="val 2957"/>
            </a:avLst>
          </a:prstGeom>
          <a:solidFill>
            <a:srgbClr val="D7D6F5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020" y="3219748"/>
            <a:ext cx="155004" cy="12397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30998" y="3163788"/>
            <a:ext cx="3397672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Netherlands, Germany &amp; France are the strongest international growth candidates.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48580"/>
            <a:ext cx="733351" cy="255240"/>
          </a:xfrm>
          <a:prstGeom prst="roundRect">
            <a:avLst>
              <a:gd name="adj" fmla="val 6457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578495" y="589731"/>
            <a:ext cx="1025798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03325"/>
            <a:ext cx="6804347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by Revenue &amp; Volume</a:t>
            </a:r>
            <a:endParaRPr lang="en-US" sz="2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81621"/>
            <a:ext cx="3908375" cy="2813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4269" y="1764953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Volume Leaders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44269" y="2112466"/>
            <a:ext cx="4365575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products by units sold: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44269" y="2448520"/>
            <a:ext cx="3908375" cy="741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1000"/>
              </a:lnSpc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WW2 Gliders — </a:t>
            </a:r>
            <a:pPr algn="l" marL="213360" indent="-213360">
              <a:lnSpc>
                <a:spcPct val="131000"/>
              </a:lnSpc>
              <a:buSzPct val="100000"/>
              <a:buFont typeface="+mj-lt"/>
              <a:buAutoNum type="arabicPeriod" startAt="1"/>
            </a:pPr>
            <a:r>
              <a:rPr lang="en-US" sz="10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109K units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Font typeface="+mj-lt"/>
              <a:buAutoNum type="arabicPeriod" startAt="2"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White Hanging Heart — </a:t>
            </a:r>
            <a:pPr algn="l" marL="213360" indent="-213360">
              <a:lnSpc>
                <a:spcPct val="131000"/>
              </a:lnSpc>
              <a:buSzPct val="100000"/>
              <a:buFont typeface="+mj-lt"/>
              <a:buAutoNum type="arabicPeriod" startAt="2"/>
            </a:pPr>
            <a:r>
              <a:rPr lang="en-US" sz="10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94K units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Font typeface="+mj-lt"/>
              <a:buAutoNum type="arabicPeriod" startAt="3"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Paper Craft, Little Birdie — </a:t>
            </a:r>
            <a:pPr algn="l" marL="213360" indent="-213360">
              <a:lnSpc>
                <a:spcPct val="131000"/>
              </a:lnSpc>
              <a:buSzPct val="100000"/>
              <a:buFont typeface="+mj-lt"/>
              <a:buAutoNum type="arabicPeriod" startAt="3"/>
            </a:pPr>
            <a:r>
              <a:rPr lang="en-US" sz="10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81K units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44269" y="3340150"/>
            <a:ext cx="3908375" cy="957039"/>
          </a:xfrm>
          <a:prstGeom prst="roundRect">
            <a:avLst>
              <a:gd name="adj" fmla="val 2153"/>
            </a:avLst>
          </a:prstGeom>
          <a:solidFill>
            <a:srgbClr val="D7D6F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563" y="3553495"/>
            <a:ext cx="171599" cy="1372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90455" y="3494187"/>
            <a:ext cx="3324895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small number of SKUs drive disproportionate revenue — prioritize inventory and promotions accordingly.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75667"/>
            <a:ext cx="794891" cy="249882"/>
          </a:xfrm>
          <a:prstGeom prst="roundRect">
            <a:avLst>
              <a:gd name="adj" fmla="val 6489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577155" y="616148"/>
            <a:ext cx="1090017" cy="1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18729"/>
            <a:ext cx="6244530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Repeat Buyers Drive the Business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662782" y="2512368"/>
            <a:ext cx="1661964" cy="33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72.39%</a:t>
            </a:r>
            <a:endParaRPr lang="en-US" sz="2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0393" y="1667917"/>
            <a:ext cx="2026816" cy="20268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62323" y="3857179"/>
            <a:ext cx="186288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Repeat Purchase Rate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96119" y="4145533"/>
            <a:ext cx="39953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Nearly 3 in 4 customers return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819105" y="2512368"/>
            <a:ext cx="1661964" cy="33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77.26%</a:t>
            </a:r>
            <a:endParaRPr lang="en-US" sz="26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716" y="1667917"/>
            <a:ext cx="2026816" cy="20268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16178" y="3857179"/>
            <a:ext cx="206789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20% Revenue Share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652442" y="4145533"/>
            <a:ext cx="39954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Pareto principle in action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96119" y="4501530"/>
            <a:ext cx="860896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 customer (#18102) generated </a:t>
            </a:r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$609K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loyalty programs for high-value segments are essential.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48407"/>
            <a:ext cx="1298377" cy="266402"/>
          </a:xfrm>
          <a:prstGeom prst="roundRect">
            <a:avLst>
              <a:gd name="adj" fmla="val 6386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990898"/>
            <a:ext cx="158546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RECOMMENDATIONS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427411"/>
            <a:ext cx="442071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Actionable Next Steps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082998"/>
            <a:ext cx="283518" cy="283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543696"/>
            <a:ext cx="18254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Retention Programs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2850207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Loyalty rewards for top 20% of customers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2082998"/>
            <a:ext cx="283518" cy="283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0553" y="2543696"/>
            <a:ext cx="17884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Campaigns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660553" y="2850207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 top SKUs with bundles and cross-sells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360539"/>
            <a:ext cx="283518" cy="2835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6119" y="3821237"/>
            <a:ext cx="192888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International Growth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96119" y="4127748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 Netherlands, Germany &amp; France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360539"/>
            <a:ext cx="283518" cy="28351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60553" y="382123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Increase AOV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4660553" y="4127748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Upsell strategies to lift $447 average order value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2026-06-22T19:47:23Z</dcterms:created>
  <dcterms:modified xsi:type="dcterms:W3CDTF">2026-06-22T19:47:23Z</dcterms:modified>
</cp:coreProperties>
</file>